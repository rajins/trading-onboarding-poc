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457200"/>
            <a:ext cx="2560320" cy="256032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3093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3093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63093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63093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63093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63093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8016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80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POC PROPOSAL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AI-Powered Account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Onboarding Platform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Replacing 40+ legacy Spring services with Claude + MCP —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dynamic, auditable, FCA-compliant onboarding engine.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32764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UK Retail Trading · FCA-Regulated · Demo Accounts POC · 8-Week Delivery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0" y="632764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40+ Services.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Zero Agility.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Our legacy onboarding stack has become the biggest obstacle to growth.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10896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6–18 mo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Time to launch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 new 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1089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310896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2461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40+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4206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Spring Boot services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to maintain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108960"/>
            <a:ext cx="2606040" cy="548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2461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Implicit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4206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Routing logic hidden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across frontends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31089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98280" y="310896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32461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Manual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98280" y="4206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Compliance updates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require archaeology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731520"/>
            <a:ext cx="2377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731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02368" y="1280160"/>
            <a:ext cx="2377440" cy="384048"/>
          </a:xfrm>
          <a:prstGeom prst="rect">
            <a:avLst/>
          </a:prstGeom>
          <a:solidFill>
            <a:srgbClr val="0F172A">
              <a:alpha val="92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1280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60736" y="1828800"/>
            <a:ext cx="2377440" cy="384048"/>
          </a:xfrm>
          <a:prstGeom prst="rect">
            <a:avLst/>
          </a:prstGeom>
          <a:solidFill>
            <a:srgbClr val="94A3B8">
              <a:alpha val="84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0736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0" y="2377440"/>
            <a:ext cx="2377440" cy="384048"/>
          </a:xfrm>
          <a:prstGeom prst="rect">
            <a:avLst/>
          </a:prstGeom>
          <a:solidFill>
            <a:srgbClr val="14B8A6">
              <a:alpha val="76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02368" y="2926080"/>
            <a:ext cx="2377440" cy="384048"/>
          </a:xfrm>
          <a:prstGeom prst="rect">
            <a:avLst/>
          </a:prstGeom>
          <a:solidFill>
            <a:srgbClr val="1E293B">
              <a:alpha val="68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460736" y="3474720"/>
            <a:ext cx="2377440" cy="38404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60736" y="3474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0" y="4023360"/>
            <a:ext cx="2377440" cy="384048"/>
          </a:xfrm>
          <a:prstGeom prst="rect">
            <a:avLst/>
          </a:prstGeom>
          <a:solidFill>
            <a:srgbClr val="0F172A">
              <a:alpha val="52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4023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service-07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…and 33 more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5760720" cy="68580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</a:rPr>
              <a:t>VISION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One Intelligent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Orchestrator.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Five Clean Services.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Replace 40+ Java services with 5 focused MCP servers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guided by a Claude AI orchestrator — deterministic compliance,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dynamic UX, full audit trail.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846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46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Deterministic 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4846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4846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Orchestration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4846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846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Audit Trail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4846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4846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Dynamic UX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BEFORE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108960" cy="329184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1865376"/>
            <a:ext cx="3108960" cy="329184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267712"/>
            <a:ext cx="3108960" cy="329184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2670048"/>
            <a:ext cx="3108960" cy="329184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072384"/>
            <a:ext cx="3108960" cy="329184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✕ 40 more…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3931920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3159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AFTER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5029200"/>
            <a:ext cx="1508760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50292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KYC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46720" y="5413248"/>
            <a:ext cx="1508760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5413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Suitability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5797296"/>
            <a:ext cx="1508760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57972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Eligibility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738360" y="5029200"/>
            <a:ext cx="1508760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8360" y="50292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Disclosures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38360" y="5413248"/>
            <a:ext cx="1508760" cy="31089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8360" y="5413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How It All Fits Together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1430000" cy="822960"/>
          </a:xfrm>
          <a:prstGeom prst="rect">
            <a:avLst/>
          </a:prstGeom>
          <a:solidFill>
            <a:srgbClr val="0F172A">
              <a:alpha val="9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 ·  Next.js 14  ·  Chat UI + Dynamic Form Renderer + Audit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2286000"/>
            <a:ext cx="1828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Claude API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2606040"/>
            <a:ext cx="5760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6060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ORCHESTRATOR  ·  Agentic Loop  ·  Routes. Never decides.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3429000"/>
            <a:ext cx="10972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3429000"/>
            <a:ext cx="10972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3429000"/>
            <a:ext cx="10972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429000"/>
            <a:ext cx="10972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3429000"/>
            <a:ext cx="10972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214884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840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KYC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21488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verify_identity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check_sanctions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assess_vulnerability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3794760"/>
            <a:ext cx="2148840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3840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Suitability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4251960"/>
            <a:ext cx="21488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appropriateness_test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evaluate_experience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check_retest_period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3794760"/>
            <a:ext cx="214884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840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Eligibility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251960"/>
            <a:ext cx="21488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get_eligible_products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get_journey_steps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40880" y="3794760"/>
            <a:ext cx="2148840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3840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Disclosure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4251960"/>
            <a:ext cx="21488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required_disclosures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risk_warnings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consumer_duty_content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35440" y="3794760"/>
            <a:ext cx="214884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35440" y="3840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 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35440" y="4251960"/>
            <a:ext cx="214884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write_audit_event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get_audit_trail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snapshot_decision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5394960"/>
            <a:ext cx="18288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669280"/>
            <a:ext cx="11430000" cy="82296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56692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JSON RULES ENGINE  ·  rules/uk/eligibility.json  ·  suitability/{product}.json  ·  disclosures/{product}.json  ·  kyc.json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USER JOURNEY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From 'I want an account' to 'You're live'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 one intelligent conversation.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148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21488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2395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Product Intent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2944368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Customer states product interest. Claude calls get_eligible_products + get_required_journey_steps.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3520440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828800"/>
            <a:ext cx="2148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61488" y="1828800"/>
            <a:ext cx="21488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828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71216" y="2395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KYC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71216" y="2944368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Identity, sanctions, vulnerability checks — all deterministic. PASS/FAIL logged to audit.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10328" y="3520440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1496" y="1828800"/>
            <a:ext cx="2148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11496" y="1828800"/>
            <a:ext cx="2148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828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1224" y="2395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Suitability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21224" y="2944368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For CFD/Options: appropriateness test with FCA-compliant scoring. FAIL stops journey immediately.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60336" y="3520440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1828800"/>
            <a:ext cx="2148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61504" y="1828800"/>
            <a:ext cx="21488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1828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71232" y="2395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Disclosures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71232" y="2944368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Pre-approved FCA text fetched verbatim from disclosure-server. Never AI-generated.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10344" y="3520440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1512" y="1828800"/>
            <a:ext cx="2148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11512" y="1828800"/>
            <a:ext cx="21488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11512" y="1828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21240" y="2395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Account Setup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21240" y="2944368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Preferences confirmed. Journey completed. Full audit trail written.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5577840"/>
            <a:ext cx="11338560" cy="59436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5778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★  Every tool call writes to the Audit MCP Server — input snapshot, decision, rule version, timestamp. Immutable. Deterministic.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COMPLIANCE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943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Compliance is 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architectural property.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6692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128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AI Never Decides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Claude routes between MCP tools and communicates results. All PASS/FAIL decisions come from deterministic JSON rules.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56692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429000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3872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Disclosures Are Fixed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90448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FCA-mandated disclosure text lives in versioned JSON files. Claude fetches and presents verbatim — never paraphrases.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56692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754880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8646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Everything Is Audited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2303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tool call snapshot is written to an append-only SQLite audit log with rule version, input, output, and timestamp.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280160"/>
            <a:ext cx="5303520" cy="52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280160"/>
            <a:ext cx="53035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SAMPLE AUDIT TRAIL — CFD Journey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1901952"/>
            <a:ext cx="5029200" cy="64008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JOURNEY_STARTED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93408" y="22219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29400" y="2651760"/>
            <a:ext cx="50292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27066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KYC_COMPLETED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93408" y="29718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verify_identity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875520" y="2807208"/>
            <a:ext cx="77724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2807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PASS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3401568"/>
            <a:ext cx="5029200" cy="64008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3456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RULE_EVALUATED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93408" y="37216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check_sanctions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875520" y="3557016"/>
            <a:ext cx="77724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35570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PASS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29400" y="4151376"/>
            <a:ext cx="50292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206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SUITABILITY_INITIATED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93408" y="44714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get_appropriateness_questions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29400" y="4901184"/>
            <a:ext cx="5029200" cy="64008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49560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SUITABILITY_COMPLETED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93408" y="52212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run_appropriateness_test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875520" y="5056632"/>
            <a:ext cx="77724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0" y="5056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FAIL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629400" y="5650992"/>
            <a:ext cx="50292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93408" y="5705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JOURNEY_ABANDONED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93408" y="597103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—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DEMO SCENARIOS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Three Journeys. One Architecture.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70332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3703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37160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HAPPY PATH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ISA — Simple Path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201168" cy="2011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Product selected: ISA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201168" cy="2011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31821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KYC → PASS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371246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Disclosure presented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201168" cy="2011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424281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Account created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6144768"/>
            <a:ext cx="3703320" cy="347472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614476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3 steps. No appropriateness test required under FCA rules.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43400" y="1463040"/>
            <a:ext cx="370332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1463040"/>
            <a:ext cx="3703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645920"/>
            <a:ext cx="1371600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COMPLEX PATH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80560" y="2011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CFD — Full Journey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480560" y="2706624"/>
            <a:ext cx="201168" cy="20116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26517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Product selected: CFD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3236976"/>
            <a:ext cx="201168" cy="20116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31821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KYC → PASS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80560" y="3767328"/>
            <a:ext cx="201168" cy="20116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371246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Appropriateness test (4 Qs) → PASS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4297680"/>
            <a:ext cx="201168" cy="20116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424281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FCA 74% loss warning presented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4828032"/>
            <a:ext cx="201168" cy="20116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4828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0" y="477316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Account created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43400" y="6144768"/>
            <a:ext cx="3703320" cy="347472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614476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5 steps. COBS 10.2 appropriateness test with scoring.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275320" y="1463040"/>
            <a:ext cx="370332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75320" y="1463040"/>
            <a:ext cx="3703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1645920"/>
            <a:ext cx="1371600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FAIL PATH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412480" y="2011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CFD — Blocked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412480" y="2706624"/>
            <a:ext cx="201168" cy="2011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686800" y="26517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Product selected: CFD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412480" y="3236976"/>
            <a:ext cx="201168" cy="2011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686800" y="31821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KYC → PASS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412480" y="3767328"/>
            <a:ext cx="201168" cy="2011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686800" y="371246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Appropriateness test → FAIL (score &lt; 6)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412480" y="4297680"/>
            <a:ext cx="201168" cy="2011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686800" y="424281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Journey stopped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412480" y="4828032"/>
            <a:ext cx="201168" cy="2011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4828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686800" y="477316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30-day retest window enforced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275320" y="6144768"/>
            <a:ext cx="3703320" cy="347472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85048" y="614476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Claude cannot override. Deterministic rule. Audit logged.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DELIVERY PLAN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8-Week POC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47472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3474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Weeks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Foundation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" y="2953512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2880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Audit MCP Server (builds first)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3575304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3502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JSON rules all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" y="4197096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41239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Product eligibility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4818888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47457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KYC + Sanctions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1508760"/>
            <a:ext cx="347472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69080" y="1508760"/>
            <a:ext cx="3474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1847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Weeks 3–4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33672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Core Journey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33672" y="29535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1416" y="2880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Suitability + Disclosure servers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33672" y="357530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1416" y="3502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Claude orchestrator + MCP client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33672" y="41970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41239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Chat UI + audit panel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33672" y="48188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47457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ISA + GIA end-to-end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1508760"/>
            <a:ext cx="402336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26680" y="1508760"/>
            <a:ext cx="40233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1847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Weeks 5–8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91272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Full Demo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891272" y="295351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9016" y="28803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CFD appropriateness test (PASS + FAIL)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91272" y="357530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29016" y="3502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SIPP pension declaration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91272" y="419709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9016" y="41239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All 5 products wired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91272" y="481888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9016" y="4745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Compliance dashboard + demo script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1480" y="6473952"/>
            <a:ext cx="113385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6473952"/>
            <a:ext cx="1325880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W1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0" y="6473952"/>
            <a:ext cx="1325880" cy="164592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W2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246120" y="6473952"/>
            <a:ext cx="1325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W3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63440" y="6473952"/>
            <a:ext cx="1325880" cy="16459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W4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80760" y="6473952"/>
            <a:ext cx="132588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W5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498080" y="6473952"/>
            <a:ext cx="1325880" cy="16459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W6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915400" y="6473952"/>
            <a:ext cx="132588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1540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W7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332720" y="6473952"/>
            <a:ext cx="1325880" cy="16459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32720" y="6492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</a:rPr>
              <a:t>THE CASE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Why This. Why Now.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40+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services consolidated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into 5 MCP servers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</a:rPr>
              <a:t>8 wks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from zero to 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demo POC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7220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deterministic compliance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decisions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5087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5256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code changes needed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to add a new region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Why MCP (Model Context Protocol)?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457200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5902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Independently deployable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9194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compliance domain is its own service. Test, update, and version rules without touching others.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457200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5902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Tool-calling is auditable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49194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Claude → MCP interaction is a discrete, loggable event. Built-in auditability.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548640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5046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Swap orchestrators freely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5833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MCP is model-agnostic. Today Claude. Tomorrow any LLM. Rules stay stable.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548640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5046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Region = a prompt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5833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Adding UK → SG onboarding means a new system prompt + new rules JSON. No new services.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84048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</a:rPr>
              <a:t>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Ready to demo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 8 weeks.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 POC is scaffolded and running locally. Here's what we need to proceed: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23697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Assign a Compliance SME to map Consumer Duty obligations to the 5 UK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98678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Confirm ANTHROPIC_API_KEY access and hosting environment (local Docker or cloud)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73659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Sign off on the 3 demo scenarios: ISA happy path, CFD PASS, CFD FAIL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4982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449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4864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Schedule Week 1 kick-off — audit server is already built and verified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327648"/>
            <a:ext cx="9144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trading-onboarding-poc · Claude + MCP · FCA-Regulated UK Retail · 8-Week Delivery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789920" y="632764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0" y="914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</a:rPr>
              <a:t>TECH STACK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686800" y="1261872"/>
            <a:ext cx="301752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Claude Sonnet 4.6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0" y="1737360"/>
            <a:ext cx="301752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@modelcontextprotocol/sdk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2212848"/>
            <a:ext cx="301752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Next.js 14 · Tailwind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688336"/>
            <a:ext cx="301752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26883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better-sqlite3 · Zod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0" y="3163824"/>
            <a:ext cx="301752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31638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Docker Compose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Onboarding Proposal</dc:title>
  <dc:subject>PptxGenJS Presentation</dc:subject>
  <dc:creator>PptxGenJS</dc:creator>
  <cp:lastModifiedBy>PptxGenJS</cp:lastModifiedBy>
  <cp:revision>1</cp:revision>
  <dcterms:created xsi:type="dcterms:W3CDTF">2026-06-20T06:53:10Z</dcterms:created>
  <dcterms:modified xsi:type="dcterms:W3CDTF">2026-06-20T06:53:10Z</dcterms:modified>
</cp:coreProperties>
</file>